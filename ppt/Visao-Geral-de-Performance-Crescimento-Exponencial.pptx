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Roboto" panose="02000000000000000000" pitchFamily="2" charset="0"/>
      <p:regular r:id="rId9"/>
    </p:embeddedFont>
    <p:embeddedFont>
      <p:font typeface="Roboto Slab" panose="020F0502020204030204" pitchFamily="2" charset="0"/>
      <p:regular r:id="rId1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96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126" y="810220"/>
            <a:ext cx="10065901" cy="49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Visão Geral de Performance: Crescimento Exponencial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29126" y="1616273"/>
            <a:ext cx="1337214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análise abrange o período de 01/01/2018 a 31/10/2018, destacando as principais métricas de crescimento em Receita, Pedidos e Clientes, em comparação com o ano anterior (LY).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9126" y="2044779"/>
            <a:ext cx="6607373" cy="2608659"/>
          </a:xfrm>
          <a:prstGeom prst="roundRect">
            <a:avLst>
              <a:gd name="adj" fmla="val 905"/>
            </a:avLst>
          </a:prstGeom>
          <a:solidFill>
            <a:srgbClr val="E9EC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08" y="2202061"/>
            <a:ext cx="471845" cy="47184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86" y="2305288"/>
            <a:ext cx="212288" cy="2653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408" y="2831187"/>
            <a:ext cx="2359581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Receita Aprovada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86408" y="3220403"/>
            <a:ext cx="5427107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R$ 353,7 M</a:t>
            </a:r>
            <a:endParaRPr lang="en-US" sz="4250" dirty="0"/>
          </a:p>
        </p:txBody>
      </p:sp>
      <p:sp>
        <p:nvSpPr>
          <p:cNvPr id="9" name="Text 5"/>
          <p:cNvSpPr/>
          <p:nvPr/>
        </p:nvSpPr>
        <p:spPr>
          <a:xfrm>
            <a:off x="786408" y="3992999"/>
            <a:ext cx="6292810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Crescimento de 56%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 relação ao ano anterior (R$ 226,4 M). Este aumento substancial reflete a expansão bem-sucedida do mercado e a eficácia das estratégias de vendas.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393781" y="2044779"/>
            <a:ext cx="6607493" cy="2608659"/>
          </a:xfrm>
          <a:prstGeom prst="roundRect">
            <a:avLst>
              <a:gd name="adj" fmla="val 905"/>
            </a:avLst>
          </a:prstGeom>
          <a:solidFill>
            <a:srgbClr val="E9EC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063" y="2202061"/>
            <a:ext cx="471845" cy="47184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841" y="2305288"/>
            <a:ext cx="212288" cy="2653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51063" y="2831187"/>
            <a:ext cx="2359581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Pedidos Aprovados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7551063" y="3220403"/>
            <a:ext cx="5427107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53,59 Mil</a:t>
            </a:r>
            <a:endParaRPr lang="en-US" sz="4250" dirty="0"/>
          </a:p>
        </p:txBody>
      </p:sp>
      <p:sp>
        <p:nvSpPr>
          <p:cNvPr id="15" name="Text 9"/>
          <p:cNvSpPr/>
          <p:nvPr/>
        </p:nvSpPr>
        <p:spPr>
          <a:xfrm>
            <a:off x="7551063" y="3992999"/>
            <a:ext cx="6292929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Houve um crescimento impressionante de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71,53%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nos pedidos aprovados, saltando de 31 Mil para 53,59 Mil. Isso demonstra uma forte demanda e alta conversão.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9126" y="4810720"/>
            <a:ext cx="6607373" cy="2608659"/>
          </a:xfrm>
          <a:prstGeom prst="roundRect">
            <a:avLst>
              <a:gd name="adj" fmla="val 905"/>
            </a:avLst>
          </a:prstGeom>
          <a:solidFill>
            <a:srgbClr val="E9ECF2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08" y="4968002"/>
            <a:ext cx="471845" cy="47184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186" y="5071229"/>
            <a:ext cx="212288" cy="26539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86408" y="5597128"/>
            <a:ext cx="2359581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Base de Clientes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786408" y="5986343"/>
            <a:ext cx="5427107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24 Mil</a:t>
            </a:r>
            <a:endParaRPr lang="en-US" sz="4250" dirty="0"/>
          </a:p>
        </p:txBody>
      </p:sp>
      <p:sp>
        <p:nvSpPr>
          <p:cNvPr id="21" name="Text 13"/>
          <p:cNvSpPr/>
          <p:nvPr/>
        </p:nvSpPr>
        <p:spPr>
          <a:xfrm>
            <a:off x="786408" y="6758940"/>
            <a:ext cx="6292810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base de clientes cresceu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81%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passando de 13 Mil para 24 Mil. A aquisição de novos clientes é um motor chave para o crescimento da receita.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7393781" y="4810720"/>
            <a:ext cx="6607493" cy="2608659"/>
          </a:xfrm>
          <a:prstGeom prst="roundRect">
            <a:avLst>
              <a:gd name="adj" fmla="val 905"/>
            </a:avLst>
          </a:prstGeom>
          <a:solidFill>
            <a:srgbClr val="E9ECF2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1063" y="4968002"/>
            <a:ext cx="471845" cy="471845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841" y="5071229"/>
            <a:ext cx="212288" cy="26539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551063" y="5597128"/>
            <a:ext cx="264140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OTD (On-Time Delivery)</a:t>
            </a:r>
            <a:endParaRPr lang="en-US" sz="1850" dirty="0"/>
          </a:p>
        </p:txBody>
      </p:sp>
      <p:sp>
        <p:nvSpPr>
          <p:cNvPr id="26" name="Text 16"/>
          <p:cNvSpPr/>
          <p:nvPr/>
        </p:nvSpPr>
        <p:spPr>
          <a:xfrm>
            <a:off x="7551063" y="5986343"/>
            <a:ext cx="5427107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0,93</a:t>
            </a:r>
            <a:endParaRPr lang="en-US" sz="4250" dirty="0"/>
          </a:p>
        </p:txBody>
      </p:sp>
      <p:sp>
        <p:nvSpPr>
          <p:cNvPr id="27" name="Text 17"/>
          <p:cNvSpPr/>
          <p:nvPr/>
        </p:nvSpPr>
        <p:spPr>
          <a:xfrm>
            <a:off x="7551063" y="6758940"/>
            <a:ext cx="6292929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taxa de entrega no prazo (OTD) teve uma ligeira queda de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-4%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(de 0,96 para 0,93). A logística precisa ser revisada para acompanhar o volume crescente de pedidos.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163" y="373380"/>
            <a:ext cx="595181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Análise Detalhada de Métricas Chave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43163" y="1069419"/>
            <a:ext cx="13544074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performance do período demonstra um crescimento robusto, mas também aponta para áreas de atenção, como a eficiência logística (OTD).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3163" y="1575197"/>
            <a:ext cx="2859762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Crescimento e Volume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3163" y="2067401"/>
            <a:ext cx="3929063" cy="1518999"/>
          </a:xfrm>
          <a:prstGeom prst="roundRect">
            <a:avLst>
              <a:gd name="adj" fmla="val 4816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23" y="2067401"/>
            <a:ext cx="60960" cy="15189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9854" y="2218373"/>
            <a:ext cx="169759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Receita Aprovada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9854" y="2566273"/>
            <a:ext cx="3581400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R$ 353,7 Milhões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(vs. R$ 226,4 M LY). O aumento de 56% na receita é um indicador de sucesso na monetização da base de clientes e no aumento do valor médio das transações.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07957" y="2067401"/>
            <a:ext cx="3929063" cy="1518999"/>
          </a:xfrm>
          <a:prstGeom prst="roundRect">
            <a:avLst>
              <a:gd name="adj" fmla="val 4816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717" y="2067401"/>
            <a:ext cx="60960" cy="15189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4648" y="2218373"/>
            <a:ext cx="169759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Pedidos Aprovados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04648" y="2566273"/>
            <a:ext cx="3581400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53,59 Mil Pedidos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(vs. 31 Mil LY). O crescimento de 71,53% no volume de pedidos é um desafio logístico e operacional, mas um sinal claro de demanda de mercado.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3163" y="3722132"/>
            <a:ext cx="3929063" cy="1301710"/>
          </a:xfrm>
          <a:prstGeom prst="roundRect">
            <a:avLst>
              <a:gd name="adj" fmla="val 5620"/>
            </a:avLst>
          </a:prstGeom>
          <a:solidFill>
            <a:srgbClr val="FBFCFE"/>
          </a:solidFill>
          <a:ln w="15240">
            <a:solidFill>
              <a:srgbClr val="CFD2D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23" y="3722132"/>
            <a:ext cx="60960" cy="13017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9854" y="3873103"/>
            <a:ext cx="169759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Clientes Ativos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9854" y="4221004"/>
            <a:ext cx="3581400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Mil Clientes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(vs. 13 Mil LY). O crescimento de 81% na base de clientes é o maior impulsionador do sucesso, exigindo foco contínuo na retenção e satisfação.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875871" y="1575197"/>
            <a:ext cx="2881670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Eficiência Operacional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8875871" y="2067401"/>
            <a:ext cx="5218867" cy="1271230"/>
          </a:xfrm>
          <a:prstGeom prst="roundRect">
            <a:avLst>
              <a:gd name="adj" fmla="val 25640"/>
            </a:avLst>
          </a:prstGeom>
          <a:solidFill>
            <a:srgbClr val="E9ECF2"/>
          </a:solidFill>
          <a:ln/>
        </p:spPr>
      </p:sp>
      <p:sp>
        <p:nvSpPr>
          <p:cNvPr id="19" name="Text 14"/>
          <p:cNvSpPr/>
          <p:nvPr/>
        </p:nvSpPr>
        <p:spPr>
          <a:xfrm>
            <a:off x="9011603" y="2203133"/>
            <a:ext cx="1900118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OTD (On-Time Delivery)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011603" y="2551033"/>
            <a:ext cx="4947404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Taxa de 0,93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(queda de 4% vs. 0,96 LY). A ligeira deterioração no OTD sugere que a infraestrutura de entrega está sob pressão devido ao aumento de 71,53% no volume de pedidos.</a:t>
            </a:r>
            <a:endParaRPr lang="en-US" sz="10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5871" y="3491389"/>
            <a:ext cx="5633949" cy="46693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728" y="338018"/>
            <a:ext cx="4843939" cy="384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Análise da Base de Clientes e LTV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1728" y="968097"/>
            <a:ext cx="13646944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foco na aquisição de clientes de alto valor e o crescimento explosivo na base são pontos fortes, mas o LTV (Lifetime Value) histórico deve ser o foco para maximizar o retorno.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1728" y="1502688"/>
            <a:ext cx="3259931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19 Mil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53264" y="1982033"/>
            <a:ext cx="1536740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Clientes Totais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1728" y="2296954"/>
            <a:ext cx="3259931" cy="59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Crescimento de </a:t>
            </a:r>
            <a:r>
              <a:rPr lang="en-US" sz="9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16134,19%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 relação ao ano anterior (117 clientes). Este número reflete um período de hiper-crescimento e validação de mercado.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05250" y="1502688"/>
            <a:ext cx="326005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11 Mil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388048" y="1982033"/>
            <a:ext cx="2294453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Clientes Acima do Ticket Médio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05250" y="2296954"/>
            <a:ext cx="3260050" cy="59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Crescimento de </a:t>
            </a:r>
            <a:r>
              <a:rPr lang="en-US" sz="9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11426,04%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 relação ao ano anterior (96 clientes). A maioria dos novos clientes está gerando valor acima da média.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1728" y="3194328"/>
            <a:ext cx="3259931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R$ 17,71 Mil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53264" y="3673673"/>
            <a:ext cx="1536740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LTV (Valor Histórico)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728" y="3988594"/>
            <a:ext cx="3259931" cy="59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é o valor médio histórico por cliente (período de 2017). O foco deve ser em manter e aumentar este valor com a nova base de clientes.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05250" y="3194328"/>
            <a:ext cx="326005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45 Mil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766905" y="3673673"/>
            <a:ext cx="1536740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Pedidos Realizados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05250" y="3988594"/>
            <a:ext cx="3260050" cy="590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volume total de pedidos realizados demonstra a escala da operação e a necessidade de otimização contínua dos processos.</a:t>
            </a:r>
            <a:endParaRPr lang="en-US" sz="9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720" y="1441252"/>
            <a:ext cx="7057196" cy="667357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72720" y="8253055"/>
            <a:ext cx="4014311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Distribuição de Clientes por Estado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472720" y="8683228"/>
            <a:ext cx="6673572" cy="39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distribuição geográfica dos clientes é crucial para otimizar a logística e as campanhas de marketing. A tabela abaixo mostra a presença em diversos estados brasileiros, indicando uma cobertura nacional em expansão.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652" y="309801"/>
            <a:ext cx="4997053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Clientes por LTV (Valor Histórico)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0652" y="887135"/>
            <a:ext cx="13729097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concentração de valor em clientes de alto LTV é evidente. Estes 15 clientes representam uma parcela significativa do valor histórico total, destacando a importância da gestão de contas estratégicas.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0652" y="1306592"/>
            <a:ext cx="532673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R$ 17,71 Milhões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0652" y="2123242"/>
            <a:ext cx="2253258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LTV Total Agregado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50652" y="2517577"/>
            <a:ext cx="5326737" cy="360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valor representa o LTV total dos 15 principais clientes listados. O foco na retenção e no aumento do engajamento com esses clientes é crucial para a saúde financeira da empresa.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2" y="3004543"/>
            <a:ext cx="5326737" cy="50441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59805" y="1320641"/>
            <a:ext cx="8127444" cy="4971217"/>
          </a:xfrm>
          <a:prstGeom prst="roundRect">
            <a:avLst>
              <a:gd name="adj" fmla="val 34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67425" y="1328261"/>
            <a:ext cx="8112204" cy="3303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180058" y="1403390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6a9729c6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239970" y="1403390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3.648.924,00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67425" y="1658660"/>
            <a:ext cx="8112204" cy="3303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180058" y="1733788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65bf2a24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239970" y="1733788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2.234.660,00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67425" y="1989058"/>
            <a:ext cx="8112204" cy="3303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180058" y="2064187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05f71cae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239970" y="2064187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1.838.475,00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67425" y="2319457"/>
            <a:ext cx="8112204" cy="3303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180058" y="2394585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8e8d59f2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239970" y="2394585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939.345,00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67425" y="2649855"/>
            <a:ext cx="8112204" cy="3303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180058" y="2724983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e268e8a1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239970" y="2724983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795.620,00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067425" y="2980253"/>
            <a:ext cx="8112204" cy="3303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180058" y="3055382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9ad0c29b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239970" y="3055382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704.656,00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067425" y="3310652"/>
            <a:ext cx="8112204" cy="3303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180058" y="3385780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4a7cc8f6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39970" y="3385780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672.666,00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67425" y="3641050"/>
            <a:ext cx="8112204" cy="3303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180058" y="3716179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08783afa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239970" y="3716179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671.839,00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067425" y="3971449"/>
            <a:ext cx="8112204" cy="3303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180058" y="4046577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db4c46b5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0239970" y="4046577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592.014,00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067425" y="4301847"/>
            <a:ext cx="8112204" cy="3303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6180058" y="4376976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f346b789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0239970" y="4376976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587.556,00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067425" y="4632246"/>
            <a:ext cx="8112204" cy="3303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6180058" y="4707374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c2ac3d8b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0239970" y="4707374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582.694,00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067425" y="4962644"/>
            <a:ext cx="8112204" cy="3303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180058" y="5037773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c511c0e1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0239970" y="5037773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577.386,00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067425" y="5293043"/>
            <a:ext cx="8112204" cy="3303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180058" y="5368171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6bc7ecb7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0239970" y="5368171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577.136,00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067425" y="5623441"/>
            <a:ext cx="8112204" cy="3303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6180058" y="5698569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4bfba750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0239970" y="5698569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508.032,00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067425" y="5953839"/>
            <a:ext cx="8112204" cy="3303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6180058" y="6028968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34647746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10239970" y="6028968"/>
            <a:ext cx="3827026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496.448,00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272891"/>
            <a:ext cx="51018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Faturamento, Pedidos e Taxas de Conclusão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96835" y="781407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faturamento total atingiu R$ 481 Milhões, com um crescimento notável de 12471% em relação ao ano anterior. A taxa de finalização de pedidos é alta, mas a taxa de cancelamento e pedidos em rota merecem monitoramento.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051328" y="1696522"/>
            <a:ext cx="122051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96.4%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382" y="1076325"/>
            <a:ext cx="1488519" cy="14885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41446" y="2688788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Taxa de Finalização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96835" y="2903339"/>
            <a:ext cx="4529614" cy="317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 44,97 Mil pedidos totais, 43,36 Mil foram entregues. Uma taxa de conclusão de 96,4% é excelente, indicando alta eficiência na cadeia de suprimentos.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704886" y="1696522"/>
            <a:ext cx="122051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1.49%</a:t>
            </a:r>
            <a:endParaRPr lang="en-US" sz="1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940" y="1076325"/>
            <a:ext cx="1488519" cy="14885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52498" y="2688788"/>
            <a:ext cx="1325404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Taxa de Cancelamento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50393" y="2903339"/>
            <a:ext cx="4529614" cy="317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669 cancelamentos, a taxa de 1,49% é baixa, mas deve ser analisada para identificar as causas raiz e reduzir a perda de receita.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1358443" y="1696522"/>
            <a:ext cx="122051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1.2%</a:t>
            </a:r>
            <a:endParaRPr lang="en-US" sz="1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4498" y="1076325"/>
            <a:ext cx="1488519" cy="14885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48561" y="2688788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Pedidos em Rota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9703951" y="2903339"/>
            <a:ext cx="4529614" cy="317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530 pedidos estão atualmente em rota de entrega. Esta taxa (1,2%) é um indicador de volume de trabalho logístico em andamento.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396835" y="3431262"/>
            <a:ext cx="31072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Faturamento Total e Crescimento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396835" y="3939659"/>
            <a:ext cx="6797397" cy="1302425"/>
          </a:xfrm>
          <a:prstGeom prst="roundRect">
            <a:avLst>
              <a:gd name="adj" fmla="val 5617"/>
            </a:avLst>
          </a:prstGeom>
          <a:solidFill>
            <a:srgbClr val="FBFCF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35" y="3924419"/>
            <a:ext cx="6797397" cy="60960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646" y="3790831"/>
            <a:ext cx="297656" cy="297656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5943" y="3865245"/>
            <a:ext cx="119063" cy="14882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1254" y="4187666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Faturamento Total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511254" y="4441865"/>
            <a:ext cx="3423642" cy="428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R$ 481 M</a:t>
            </a:r>
            <a:endParaRPr lang="en-US" sz="2650" dirty="0"/>
          </a:p>
        </p:txBody>
      </p:sp>
      <p:sp>
        <p:nvSpPr>
          <p:cNvPr id="23" name="Text 15"/>
          <p:cNvSpPr/>
          <p:nvPr/>
        </p:nvSpPr>
        <p:spPr>
          <a:xfrm>
            <a:off x="511254" y="4969073"/>
            <a:ext cx="656855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Crescimento de 12471% em relação ao ano anterior (R$ 4 M). Este crescimento massivo sugere uma entrada agressiva e bem-sucedida no mercado.</a:t>
            </a:r>
            <a:endParaRPr lang="en-US" sz="750" dirty="0"/>
          </a:p>
        </p:txBody>
      </p:sp>
      <p:sp>
        <p:nvSpPr>
          <p:cNvPr id="24" name="Shape 16"/>
          <p:cNvSpPr/>
          <p:nvPr/>
        </p:nvSpPr>
        <p:spPr>
          <a:xfrm>
            <a:off x="396835" y="5490091"/>
            <a:ext cx="6797397" cy="1302425"/>
          </a:xfrm>
          <a:prstGeom prst="roundRect">
            <a:avLst>
              <a:gd name="adj" fmla="val 5617"/>
            </a:avLst>
          </a:prstGeom>
          <a:solidFill>
            <a:srgbClr val="FBFCFE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35" y="5474851"/>
            <a:ext cx="6797397" cy="6096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646" y="5341263"/>
            <a:ext cx="297656" cy="297656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5943" y="5415677"/>
            <a:ext cx="119063" cy="14882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1254" y="5738098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de Pedidos</a:t>
            </a:r>
            <a:endParaRPr lang="en-US" sz="950" dirty="0"/>
          </a:p>
        </p:txBody>
      </p:sp>
      <p:sp>
        <p:nvSpPr>
          <p:cNvPr id="29" name="Text 18"/>
          <p:cNvSpPr/>
          <p:nvPr/>
        </p:nvSpPr>
        <p:spPr>
          <a:xfrm>
            <a:off x="511254" y="5992297"/>
            <a:ext cx="3423642" cy="428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44,97 Mil</a:t>
            </a:r>
            <a:endParaRPr lang="en-US" sz="2650" dirty="0"/>
          </a:p>
        </p:txBody>
      </p:sp>
      <p:sp>
        <p:nvSpPr>
          <p:cNvPr id="30" name="Text 19"/>
          <p:cNvSpPr/>
          <p:nvPr/>
        </p:nvSpPr>
        <p:spPr>
          <a:xfrm>
            <a:off x="511254" y="6519505"/>
            <a:ext cx="656855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volume total de pedidos realizados no período. A gestão eficiente deste volume é essencial para manter a satisfação do cliente.</a:t>
            </a:r>
            <a:endParaRPr lang="en-US" sz="750" dirty="0"/>
          </a:p>
        </p:txBody>
      </p:sp>
      <p:sp>
        <p:nvSpPr>
          <p:cNvPr id="31" name="Text 20"/>
          <p:cNvSpPr/>
          <p:nvPr/>
        </p:nvSpPr>
        <p:spPr>
          <a:xfrm>
            <a:off x="7443788" y="3431262"/>
            <a:ext cx="265521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Distribuição de Faturamento</a:t>
            </a:r>
            <a:endParaRPr lang="en-US" sz="1550" dirty="0"/>
          </a:p>
        </p:txBody>
      </p:sp>
      <p:sp>
        <p:nvSpPr>
          <p:cNvPr id="32" name="Text 21"/>
          <p:cNvSpPr/>
          <p:nvPr/>
        </p:nvSpPr>
        <p:spPr>
          <a:xfrm>
            <a:off x="7443788" y="3778448"/>
            <a:ext cx="6797397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gráfico de Faturamento por Mês e Categoria (não detalhado) mostra a sazonalidade e a contribuição de diferentes linhas de produto para a receita total.</a:t>
            </a:r>
            <a:endParaRPr lang="en-US" sz="75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6555" y="4088488"/>
            <a:ext cx="6939726" cy="40751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8959"/>
            <a:ext cx="79736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Resumo Visual e Próximos Passos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1587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 gráficos finais consolidam a performance de crescimento e a distribuição de pedidos, reforçando a necessidade de otimizar a logística (OTD) para sustentar o ritmo de expansão.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74194"/>
            <a:ext cx="4347567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4066342"/>
            <a:ext cx="27278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Crescimento de Receita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4495562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Atingir a marca de R$ 353,7 M com 56% de crescimento anual é um marco significativo.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074194"/>
            <a:ext cx="4347567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9715" y="40663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Volume de Pedidos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339715" y="4495562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aumento de 71,53% nos pedidos valida a estratégia de aquisição e a demanda do produto.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074194"/>
            <a:ext cx="4347567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7282" y="40663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Foco em OTD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87282" y="4495562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ligeira queda no OTD (0,93) exige investimento em logística para garantir a satisfação do cliente.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793790" y="5869781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48" y="6165056"/>
            <a:ext cx="248007" cy="19835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38513" y="6117669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Recomendação:</a:t>
            </a: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Priorizar a otimização da cadeia de suprimentos e a experiência de entrega para manter a alta taxa de retenção de clientes e sustentar o crescimento exponencial.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1075</Words>
  <Application>Microsoft Office PowerPoint</Application>
  <PresentationFormat>Personalizar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Henrique Carvalho Cardoso</cp:lastModifiedBy>
  <cp:revision>2</cp:revision>
  <dcterms:created xsi:type="dcterms:W3CDTF">2025-10-15T23:13:44Z</dcterms:created>
  <dcterms:modified xsi:type="dcterms:W3CDTF">2025-10-15T23:15:17Z</dcterms:modified>
</cp:coreProperties>
</file>