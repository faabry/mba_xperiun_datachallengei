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Merriweather" panose="00000500000000000000" pitchFamily="2" charset="0"/>
      <p:regular r:id="rId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51B"/>
    <a:srgbClr val="09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59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834039"/>
            <a:ext cx="7416403" cy="134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Análise de Performance Financeira e Operacional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863798" y="3507581"/>
            <a:ext cx="7416403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Esta apresentação detalha os principais indicadores de desempenho (KPIs) financeiros e operacionais, comparando os resultados atuais com o ano anterior (LY). O foco está em Receita Aprovada, Pedidos, Qualidade de Entrega (OTD) e Crescimento da Base de Clientes.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63798" y="5132546"/>
            <a:ext cx="7416403" cy="1263015"/>
          </a:xfrm>
          <a:prstGeom prst="roundRect">
            <a:avLst>
              <a:gd name="adj" fmla="val 7182"/>
            </a:avLst>
          </a:prstGeom>
          <a:solidFill>
            <a:srgbClr val="001D4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59" y="5457230"/>
            <a:ext cx="269915" cy="215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5434" y="5402342"/>
            <a:ext cx="6498907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Período de Análise: 01/01/2018 a 31/12/2018, com comparação ao mesmo período do ano anterior.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140381"/>
            <a:ext cx="7416403" cy="134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Crescimento Excepcional da Receita e Pedidos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350198" y="2813923"/>
            <a:ext cx="741640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resultados demonstram um crescimento robusto tanto na Receita Aprovada quanto no volume de Pedidos Aprovados, superando significativamente os números do ano anterior.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50198" y="4201239"/>
            <a:ext cx="229219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R$ 353 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350198" y="4902875"/>
            <a:ext cx="229219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Receita Aprovada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350198" y="5369719"/>
            <a:ext cx="2292191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56%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 relação à Receita Aprovada LY (R$ 226M).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12304" y="4201239"/>
            <a:ext cx="229219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53 Mil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912304" y="4902875"/>
            <a:ext cx="229219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Pedidos Aprovados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912304" y="5707023"/>
            <a:ext cx="2482527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Crescimento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71%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comparado aos 31 Mil Pedidos Aprovados 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474410" y="4201239"/>
            <a:ext cx="229219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R$ 481 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1474410" y="4902875"/>
            <a:ext cx="2292191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Faturamento Total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474410" y="5707023"/>
            <a:ext cx="2392315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Aumento expressivo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versus o ano anterior (R$ 4 M).</a:t>
            </a:r>
            <a:endParaRPr lang="en-US" sz="170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338903-D0AE-3DDE-B416-BDC8E4213340}"/>
              </a:ext>
            </a:extLst>
          </p:cNvPr>
          <p:cNvSpPr/>
          <p:nvPr/>
        </p:nvSpPr>
        <p:spPr>
          <a:xfrm>
            <a:off x="12721213" y="7526215"/>
            <a:ext cx="1838849" cy="612950"/>
          </a:xfrm>
          <a:prstGeom prst="rect">
            <a:avLst/>
          </a:prstGeom>
          <a:solidFill>
            <a:srgbClr val="0915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436" y="562570"/>
            <a:ext cx="6776799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Métricas Operacionais: OTD e Finalizações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8436" y="1244203"/>
            <a:ext cx="12993529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Apesar do grande volume de pedidos, a taxa de finalização se mantém alta, embora o indicador de On-Time Delivery (OTD) tenha apresentado uma ligeira queda.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67658" y="2620447"/>
            <a:ext cx="163580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96.4%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231" y="1789271"/>
            <a:ext cx="1994892" cy="1994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54561" y="3950375"/>
            <a:ext cx="1662351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Taxa de Finalizações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436" y="4291132"/>
            <a:ext cx="63346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Pedidos entregues (43,36 Mil) em relação ao total de pedidos realizados (44,97 K).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67658" y="5634276"/>
            <a:ext cx="163580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1.49%</a:t>
            </a:r>
            <a:endParaRPr lang="en-US" sz="2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231" y="4803100"/>
            <a:ext cx="1994892" cy="19948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89315" y="6964204"/>
            <a:ext cx="179272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Taxa de Cancelamento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8436" y="7304961"/>
            <a:ext cx="63346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Apenas 669 cancelamentos em um total de 44,97 Mil pedidos.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84983" y="1739503"/>
            <a:ext cx="3090386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On-Time Delivery (OTD)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484983" y="2204918"/>
            <a:ext cx="6334601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OTD atual é de </a:t>
            </a: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0,93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representando uma pequena queda de </a:t>
            </a:r>
            <a:r>
              <a:rPr lang="en-US" sz="1000" dirty="0">
                <a:solidFill>
                  <a:srgbClr val="01318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-0,03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 comparação com o OTD LY de 0,96. É crucial monitorar este indicador para garantir a satisfação do cliente.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484983" y="2750106"/>
            <a:ext cx="63346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Atualmente, 530 pedidos (</a:t>
            </a: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1,2%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 estão em rota de entrega.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983" y="3112413"/>
            <a:ext cx="4117419" cy="4117419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5B8AF089-C672-6EAB-DB63-92629CF3ED9C}"/>
              </a:ext>
            </a:extLst>
          </p:cNvPr>
          <p:cNvSpPr/>
          <p:nvPr/>
        </p:nvSpPr>
        <p:spPr>
          <a:xfrm>
            <a:off x="12701116" y="7517726"/>
            <a:ext cx="1808704" cy="641536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77503"/>
            <a:ext cx="9155787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Expansão da Base de Clientes e LTV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63798" y="2084189"/>
            <a:ext cx="1290280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base de clientes cresceu exponencialmente, com um foco notável em clientes de alto valor, o que impacta positivamente o LTV (Lifetime Value).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018115"/>
            <a:ext cx="4156948" cy="2814161"/>
          </a:xfrm>
          <a:prstGeom prst="roundRect">
            <a:avLst>
              <a:gd name="adj" fmla="val 519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318" y="3018115"/>
            <a:ext cx="121920" cy="2814161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6" name="Text 4"/>
          <p:cNvSpPr/>
          <p:nvPr/>
        </p:nvSpPr>
        <p:spPr>
          <a:xfrm>
            <a:off x="1201579" y="3264456"/>
            <a:ext cx="3239572" cy="40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Clientes Totais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01579" y="3798927"/>
            <a:ext cx="3572828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atual de </a:t>
            </a: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 Mil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clientes, um aumento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81%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 relação aos 13 Mil clientes 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36607" y="3018115"/>
            <a:ext cx="4157067" cy="2814161"/>
          </a:xfrm>
          <a:prstGeom prst="roundRect">
            <a:avLst>
              <a:gd name="adj" fmla="val 519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06127" y="3018115"/>
            <a:ext cx="121920" cy="2814161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10" name="Text 8"/>
          <p:cNvSpPr/>
          <p:nvPr/>
        </p:nvSpPr>
        <p:spPr>
          <a:xfrm>
            <a:off x="5574387" y="3264456"/>
            <a:ext cx="3572947" cy="80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Clientes de Alto Crescimento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74387" y="4203859"/>
            <a:ext cx="3572947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base de clientes mais recente (19 Mil) mostra um crescimento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16.134%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vs. ano anterior (117).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9534" y="3018115"/>
            <a:ext cx="4157067" cy="2814161"/>
          </a:xfrm>
          <a:prstGeom prst="roundRect">
            <a:avLst>
              <a:gd name="adj" fmla="val 519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9054" y="3018115"/>
            <a:ext cx="121920" cy="2814161"/>
          </a:xfrm>
          <a:prstGeom prst="roundRect">
            <a:avLst>
              <a:gd name="adj" fmla="val 74402"/>
            </a:avLst>
          </a:prstGeom>
          <a:solidFill>
            <a:srgbClr val="609DFF"/>
          </a:solidFill>
          <a:ln/>
        </p:spPr>
      </p:sp>
      <p:sp>
        <p:nvSpPr>
          <p:cNvPr id="14" name="Text 12"/>
          <p:cNvSpPr/>
          <p:nvPr/>
        </p:nvSpPr>
        <p:spPr>
          <a:xfrm>
            <a:off x="9947315" y="3264456"/>
            <a:ext cx="3572947" cy="80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Clientes Acima do Ticket Médio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947315" y="4203859"/>
            <a:ext cx="3572947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11 Mil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clientes se enquadram nesta categoria, com um crescimento de </a:t>
            </a:r>
            <a:r>
              <a:rPr lang="en-US" sz="17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11.426%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vs. ano anterior (96).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7648" y="6318052"/>
            <a:ext cx="1257895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LTV (Valor Histórico por Cliente) para o período de 2017 é de </a:t>
            </a: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R$ 17,71 Mil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refletindo o alto valor gerado por nossa base de clientes.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3798" y="6075164"/>
            <a:ext cx="30480" cy="1176814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26F7771-E40C-B618-DAD8-A372F6DF5E8D}"/>
              </a:ext>
            </a:extLst>
          </p:cNvPr>
          <p:cNvSpPr/>
          <p:nvPr/>
        </p:nvSpPr>
        <p:spPr>
          <a:xfrm>
            <a:off x="12791552" y="7656844"/>
            <a:ext cx="1748413" cy="502418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58322"/>
            <a:ext cx="8231386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Clientes por Lifetime Value (LTV)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798" y="1799034"/>
            <a:ext cx="12902803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tabela a seguir destaca os clientes com o maior LTV histórico, demonstrando a concentração de valor em contas específicas. O LTV total da amostra é de R$ 17.712,13.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3798" y="2592943"/>
            <a:ext cx="12902803" cy="4778335"/>
          </a:xfrm>
          <a:prstGeom prst="roundRect">
            <a:avLst>
              <a:gd name="adj" fmla="val 161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18" y="2600563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5013" y="2718316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91337" y="2718316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1418" y="3129796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55013" y="3247549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- 6a9729c6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91337" y="3247549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R$ 3.648.924,00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1418" y="3659029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55013" y="3776782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- 65bf2a24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91337" y="3776782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R$ 2.234.660,00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1418" y="4188262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55013" y="4306014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- 05f71cae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91337" y="4306014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R$ 1.838.475,00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1418" y="4717494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55013" y="4835247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- 8e8d59f2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91337" y="4835247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R$ 939.345,00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1418" y="5246727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55013" y="5364480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e268e8a1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91337" y="5364480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R$ 795.620,00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1418" y="5775960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55013" y="5893713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- 9ad0c29b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91337" y="5893713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R$ 704.656,00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1418" y="6305193"/>
            <a:ext cx="12887563" cy="5292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55013" y="6422946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- 4a7cc8f6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91337" y="6422946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R$ 672.666,00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1418" y="6834426"/>
            <a:ext cx="12887563" cy="5292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55013" y="6952178"/>
            <a:ext cx="73617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Cliente - 08783afa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91337" y="6952178"/>
            <a:ext cx="478416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R$ 671.839,00</a:t>
            </a:r>
            <a:endParaRPr lang="en-US" sz="1400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935C6FB-4157-3A02-6B05-69A861BBCD8F}"/>
              </a:ext>
            </a:extLst>
          </p:cNvPr>
          <p:cNvSpPr/>
          <p:nvPr/>
        </p:nvSpPr>
        <p:spPr>
          <a:xfrm>
            <a:off x="12791552" y="7656844"/>
            <a:ext cx="1748413" cy="502418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9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2251" y="3152775"/>
            <a:ext cx="6642378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Resumo e Próximos Passos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62251" y="4099917"/>
            <a:ext cx="12905899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desempenho financeiro e de crescimento de clientes é excelente, mas a eficiência operacional, especialmente o OTD, requer atenção contínua.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51" y="4985623"/>
            <a:ext cx="4301966" cy="819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7038" y="6009561"/>
            <a:ext cx="3041452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Alavancar o Crescimento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67038" y="6452354"/>
            <a:ext cx="389239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Manter o foco no crescimento da Receita Aprovada e Faturamento, que demonstram forte tração.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217" y="4985623"/>
            <a:ext cx="4301966" cy="8191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69004" y="6009561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Fidelizar Clientes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369004" y="6452354"/>
            <a:ext cx="389239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Continuar investindo na aquisição e retenção de clientes de alto LTV.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6183" y="4985623"/>
            <a:ext cx="4301966" cy="8191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70971" y="6009561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Melhorar o OTD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9670971" y="6452354"/>
            <a:ext cx="389239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Implementar ações para reverter a queda no OTD e garantir a excelência na entrega.</a:t>
            </a:r>
            <a:endParaRPr lang="en-US" sz="160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EFEBC37-651F-BD1E-4E36-6BE1DD0B23B8}"/>
              </a:ext>
            </a:extLst>
          </p:cNvPr>
          <p:cNvSpPr/>
          <p:nvPr/>
        </p:nvSpPr>
        <p:spPr>
          <a:xfrm>
            <a:off x="12791552" y="7656844"/>
            <a:ext cx="1748413" cy="502418"/>
          </a:xfrm>
          <a:prstGeom prst="rect">
            <a:avLst/>
          </a:prstGeom>
          <a:solidFill>
            <a:srgbClr val="0915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9151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603</Words>
  <Application>Microsoft Office PowerPoint</Application>
  <PresentationFormat>Personalizar</PresentationFormat>
  <Paragraphs>68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Merriweather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Henrique Carvalho Cardoso</cp:lastModifiedBy>
  <cp:revision>3</cp:revision>
  <dcterms:created xsi:type="dcterms:W3CDTF">2025-10-15T23:47:36Z</dcterms:created>
  <dcterms:modified xsi:type="dcterms:W3CDTF">2025-10-16T21:52:49Z</dcterms:modified>
</cp:coreProperties>
</file>