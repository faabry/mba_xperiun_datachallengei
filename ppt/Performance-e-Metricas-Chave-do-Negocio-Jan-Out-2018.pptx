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57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72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50325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e Métricas Chave do Negócio (Jan - Out 2018)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3181707"/>
            <a:ext cx="7627382" cy="227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relatório oferece uma visão concisa e aprofundada das principais métricas de desempenho no período de 01/01/2018 a 31/10/2018, em comparação com o ano anterior (LY). Nosso objetivo é destacar as áreas de crescimento exponencial, identificar desafios e fornecer a base de dados para a tomada de decisões estratégicas.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58309" y="5669518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abrange Receita Aprovada, Volume de Pedidos, On-Time Delivery (OTD) e a expansão da base de clientes. Focamos em um crescimento robusto, mas também na eficiência operacional.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60227"/>
            <a:ext cx="10327243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Crescimento Exponencial da Receita e Pedidos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957626"/>
            <a:ext cx="421326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R$ 353,7 M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1617702" y="282011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Receita Aprovada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58309" y="3245525"/>
            <a:ext cx="421326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Faturamento recorde, demonstrando a forte tração de mercado e a eficácia das estratégias de vendas implementadas.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08508" y="1957626"/>
            <a:ext cx="421326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53,59 Mil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067901" y="282011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Pedidos Aprovados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08508" y="3245525"/>
            <a:ext cx="421326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Aumento significativo no volume de transações, indicando maior demanda e aceitação dos nossos produtos/serviços.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58707" y="1957626"/>
            <a:ext cx="4213384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24 Mil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10518219" y="282011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Base de Clientes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8707" y="3245525"/>
            <a:ext cx="42133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Expansão sólida da nossa comunidade de clientes, um motor crucial para o crescimento sustentável a longo prazo.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309" y="4558070"/>
            <a:ext cx="5839539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Comparativo Anual (LY) - Receita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758309" y="5246489"/>
            <a:ext cx="63256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Receita Aprovada alcançou R$ 353,7 Milhões, um avanço notável comparado aos R$ 226,42 Milhões do ano anterior (LY).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8309" y="6023610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Crescimento Percentual da Receita (LY): </a:t>
            </a:r>
            <a:r>
              <a:rPr lang="en-US" sz="1450" dirty="0">
                <a:solidFill>
                  <a:srgbClr val="60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56%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8309" y="6393180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crescimento robusto confirma a escalabilidade do nosso modelo de negócio e o sucesso das iniciativas de penetração de mercado.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54039" y="4558070"/>
            <a:ext cx="5906095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Comparativo Anual (LY) - Pedidos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7554039" y="5246489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volume de Pedidos Aprovados subiu para 53,59 Mil, partindo de 31 Mil pedidos no período anterior, refletindo a alta taxa de conversão e a eficiência do funil de vendas.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54039" y="6326862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Crescimento Percentual de Pedidos (LY): </a:t>
            </a:r>
            <a:r>
              <a:rPr lang="en-US" sz="1450" dirty="0">
                <a:solidFill>
                  <a:srgbClr val="60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71,53%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54039" y="6696432"/>
            <a:ext cx="63256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gestão de estoque e a capacidade logística foram cruciais para suportar este aumento de demanda.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571738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Desempenho Operacional: On-Time Delivery (OTD) e Eficiência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292668"/>
            <a:ext cx="3991094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Métrica de OTD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58309" y="2981087"/>
            <a:ext cx="4289227" cy="1870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700"/>
              </a:lnSpc>
              <a:buNone/>
            </a:pPr>
            <a:r>
              <a:rPr lang="en-US" sz="1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0,93</a:t>
            </a:r>
            <a:endParaRPr lang="en-US" sz="11750" dirty="0"/>
          </a:p>
        </p:txBody>
      </p:sp>
      <p:sp>
        <p:nvSpPr>
          <p:cNvPr id="5" name="Text 3"/>
          <p:cNvSpPr/>
          <p:nvPr/>
        </p:nvSpPr>
        <p:spPr>
          <a:xfrm>
            <a:off x="758309" y="5041463"/>
            <a:ext cx="428922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 Anterior (LY): 0,96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309" y="5515332"/>
            <a:ext cx="428922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Variação: </a:t>
            </a:r>
            <a:r>
              <a:rPr lang="en-US" sz="185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-0,04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517594" y="2292668"/>
            <a:ext cx="6666548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Análise de OTD: Necessidade de Ação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517594" y="2981087"/>
            <a:ext cx="8361998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On-Time Delivery (OTD) representa a proporção de pedidos entregues no prazo estipulado. Embora ainda em um nível alto (0,93 ou 93%), houve uma ligeira queda de 4% em relação ao ano anterior (0,96).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17594" y="4061460"/>
            <a:ext cx="8361998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Implicações do Volume: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aumento massivo de 71,53% no volume de pedidos pode estar sobrecarregando a capacidade de entrega e logística, resultando nesta pequena, mas importante, regressão na pontualidade.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17594" y="5037534"/>
            <a:ext cx="8361998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Operacional: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imperativo investigar gargalos na cadeia de suprimentos e logística de última milha para reverter essa tendência e garantir que a satisfação do cliente, impulsionada pela pontualidade, seja mantida em face do crescimento.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517594" y="6013609"/>
            <a:ext cx="8361998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Restabelecer o OTD em 0,96 ou superior nos próximos meses, investindo em otimização de rotas e capacidade de frota/parceiros logísticos.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309" y="6899672"/>
            <a:ext cx="1311378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manutenção da excelência operacional é tão importante quanto o crescimento da receita. O OTD é um indicador direto da satisfação e retenção de clientes.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483" y="430887"/>
            <a:ext cx="11403330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Expansão e Perfil da Base de Clientes (01/01/2018 - 31/10/2018)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4483" y="1256586"/>
            <a:ext cx="13381434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Nossa base de clientes experimentou um crescimento robusto, vital para a sustentabilidade da empresa. A tabela a seguir detalha a performance da base de clientes comparada ao período anterior (LY).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03770" y="1931551"/>
            <a:ext cx="22860" cy="3853934"/>
          </a:xfrm>
          <a:prstGeom prst="roundRect">
            <a:avLst>
              <a:gd name="adj" fmla="val 1024420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7025878" y="2095738"/>
            <a:ext cx="312182" cy="22860"/>
          </a:xfrm>
          <a:prstGeom prst="roundRect">
            <a:avLst>
              <a:gd name="adj" fmla="val 1024420"/>
            </a:avLst>
          </a:prstGeom>
          <a:solidFill>
            <a:srgbClr val="BACFD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1" y="2048649"/>
            <a:ext cx="117038" cy="1170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36532" y="1985129"/>
            <a:ext cx="2054185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Base Total de Clientes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4483" y="2335411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Acumulados: </a:t>
            </a: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Mil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483" y="2678668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LY: 13 Mil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92340" y="3032403"/>
            <a:ext cx="312182" cy="22860"/>
          </a:xfrm>
          <a:prstGeom prst="roundRect">
            <a:avLst>
              <a:gd name="adj" fmla="val 1024420"/>
            </a:avLst>
          </a:prstGeom>
          <a:solidFill>
            <a:srgbClr val="BACFD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1" y="2985314"/>
            <a:ext cx="117038" cy="1170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39683" y="2921794"/>
            <a:ext cx="2054185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Taxa de Crescimento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939683" y="3272076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Crescimento de Clientes (LY): </a:t>
            </a: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81%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939683" y="3615333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forte indicação de sucesso na aquisição e de aceitação do mercado.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025878" y="3839766"/>
            <a:ext cx="312182" cy="22860"/>
          </a:xfrm>
          <a:prstGeom prst="roundRect">
            <a:avLst>
              <a:gd name="adj" fmla="val 1024420"/>
            </a:avLst>
          </a:prstGeom>
          <a:solidFill>
            <a:srgbClr val="BACFD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1" y="3792676"/>
            <a:ext cx="117038" cy="1170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6532" y="3729157"/>
            <a:ext cx="2054185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Clientes Ativos (Total)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4483" y="4079438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Contagem atual: </a:t>
            </a: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Mil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4483" y="4422696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Ano Anterior: 117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292340" y="4647128"/>
            <a:ext cx="312182" cy="22860"/>
          </a:xfrm>
          <a:prstGeom prst="roundRect">
            <a:avLst>
              <a:gd name="adj" fmla="val 1024420"/>
            </a:avLst>
          </a:prstGeom>
          <a:solidFill>
            <a:srgbClr val="BACFD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1" y="4600039"/>
            <a:ext cx="117038" cy="1170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39683" y="4536519"/>
            <a:ext cx="4162782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Clientes de Alto Valor (Acima do Ticket Médio)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939683" y="4886801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Contagem: </a:t>
            </a:r>
            <a:r>
              <a:rPr lang="en-US" sz="12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Mil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939683" y="5230058"/>
            <a:ext cx="606623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Ano Anterior: 96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4483" y="5961102"/>
            <a:ext cx="13381434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crescimento de 81% na base de clientes demonstra a eficácia das campanhas de marketing e a qualidade do produto. O foco agora deve ser na retenção e no aumento do LTV (Lifetime Value).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4483" y="6636068"/>
            <a:ext cx="13381434" cy="1162526"/>
          </a:xfrm>
          <a:prstGeom prst="roundRect">
            <a:avLst>
              <a:gd name="adj" fmla="val 20144"/>
            </a:avLst>
          </a:prstGeom>
          <a:solidFill>
            <a:srgbClr val="BEDFF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4" y="6869668"/>
            <a:ext cx="195143" cy="1560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31808" y="6831092"/>
            <a:ext cx="12718018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 Crítica: O percentual de crescimento de "Clientes Ativos" (16134,19%) e "Clientes Acima do Ticket Médio" (11426,04%) versus o ano anterior sugere uma discrepância na base de comparação (LY) ou um possível erro de filtro, conforme indicado no relatório original. É crucial verificar a consistência dos dados para esses indicadores específicos.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804" y="492085"/>
            <a:ext cx="6577965" cy="588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Lifetime Value (LTV) por Cliente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15804" y="1438751"/>
            <a:ext cx="13198793" cy="57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LTV (Valor Histórico por Cliente) é uma métrica chave para avaliar o retorno sobre o investimento em aquisição de clientes. A análise a seguir foca em dados acumulados até o final do período de 2017, proporcionando uma base de comparação sólida.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5804" y="2391489"/>
            <a:ext cx="376785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LTV Histórico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715804" y="3063835"/>
            <a:ext cx="6381155" cy="3412212"/>
          </a:xfrm>
          <a:prstGeom prst="roundRect">
            <a:avLst>
              <a:gd name="adj" fmla="val 786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75" y="3250406"/>
            <a:ext cx="536853" cy="53685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12" y="3367802"/>
            <a:ext cx="241578" cy="301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2375" y="3966210"/>
            <a:ext cx="23548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LTV Médio (Histórico)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02375" y="4439483"/>
            <a:ext cx="6008013" cy="812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R$ 17,71 Mil</a:t>
            </a:r>
            <a:endParaRPr lang="en-US" sz="5100" dirty="0"/>
          </a:p>
        </p:txBody>
      </p:sp>
      <p:sp>
        <p:nvSpPr>
          <p:cNvPr id="10" name="Text 6"/>
          <p:cNvSpPr/>
          <p:nvPr/>
        </p:nvSpPr>
        <p:spPr>
          <a:xfrm>
            <a:off x="902375" y="5430798"/>
            <a:ext cx="6008013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valor representa o valor total gerado por um cliente ao longo do seu ciclo de vida (dados de 2017), servindo como benchmark para 2018.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84171" y="6677382"/>
            <a:ext cx="6112788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Aumentar o LTV médio deve ser uma prioridade, focando em upsell, cross-sell e programas de fidelidade, dado o alto custo de aquisição em mercados competitivos.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5804" y="6677382"/>
            <a:ext cx="22860" cy="858679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13" name="Text 9"/>
          <p:cNvSpPr/>
          <p:nvPr/>
        </p:nvSpPr>
        <p:spPr>
          <a:xfrm>
            <a:off x="7541062" y="2391489"/>
            <a:ext cx="376785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Clientes por LTV</a:t>
            </a:r>
            <a:endParaRPr lang="en-US" sz="2950" dirty="0"/>
          </a:p>
        </p:txBody>
      </p:sp>
      <p:sp>
        <p:nvSpPr>
          <p:cNvPr id="14" name="Shape 10"/>
          <p:cNvSpPr/>
          <p:nvPr/>
        </p:nvSpPr>
        <p:spPr>
          <a:xfrm>
            <a:off x="7541062" y="3063835"/>
            <a:ext cx="6381155" cy="3627358"/>
          </a:xfrm>
          <a:prstGeom prst="roundRect">
            <a:avLst>
              <a:gd name="adj" fmla="val 740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48682" y="3071455"/>
            <a:ext cx="6365915" cy="5160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727752" y="3186351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551087" y="3186351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 (R$)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548682" y="3587472"/>
            <a:ext cx="6365915" cy="5160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727752" y="3702368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- 6a9729c6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1551087" y="3702368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3.648.924,00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548682" y="4103489"/>
            <a:ext cx="6365915" cy="5160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727752" y="4218384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- 65bf2a24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1551087" y="4218384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2.234.660,00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548682" y="4619506"/>
            <a:ext cx="6365915" cy="5160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7727752" y="4734401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- 05f71cae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1551087" y="4734401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1.838.475,00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548682" y="5135523"/>
            <a:ext cx="6365915" cy="5160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7727752" y="5250418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- 8e8d59f2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51087" y="5250418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939.345,00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548682" y="5651540"/>
            <a:ext cx="6365915" cy="5160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7727752" y="5766435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- e268e8a1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11551087" y="5766435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795.620,00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7548682" y="6167557"/>
            <a:ext cx="6365915" cy="5160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7727752" y="6282452"/>
            <a:ext cx="3457813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- 9ad0c29b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11551087" y="6282452"/>
            <a:ext cx="2184559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704.656,00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7541062" y="6892528"/>
            <a:ext cx="6381155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topo da lista de LTV demonstra a importância de clientes específicos e como a segmentação e o atendimento premium podem alavancar resultados.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5051" y="438983"/>
            <a:ext cx="7866698" cy="1050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Visão Geral do Faturamento e Total de Pedidos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125051" y="1728787"/>
            <a:ext cx="7866698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faturamento total atingiu um patamar significativamente superior, refletindo o impacto cumulativo do aumento do volume de pedidos e, possivelmente, um ticket médio elevado.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125051" y="2419112"/>
            <a:ext cx="638651" cy="1284089"/>
          </a:xfrm>
          <a:prstGeom prst="roundRect">
            <a:avLst>
              <a:gd name="adj" fmla="val 3600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911435"/>
            <a:ext cx="239435" cy="2993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3365" y="2578775"/>
            <a:ext cx="2100739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Faturamento Total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923365" y="2937034"/>
            <a:ext cx="706838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R$ 481 Milhões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923365" y="3288149"/>
            <a:ext cx="706838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Ano Anterior: R$ 4 Milhões (Crescimento de </a:t>
            </a:r>
            <a:r>
              <a:rPr lang="en-US" sz="1250" dirty="0">
                <a:solidFill>
                  <a:srgbClr val="60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12471%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25051" y="3862864"/>
            <a:ext cx="638651" cy="1539478"/>
          </a:xfrm>
          <a:prstGeom prst="roundRect">
            <a:avLst>
              <a:gd name="adj" fmla="val 3600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482941"/>
            <a:ext cx="239435" cy="2993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23365" y="4022527"/>
            <a:ext cx="2100739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de Pedidos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923365" y="4380786"/>
            <a:ext cx="706838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44,97 Mil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923365" y="4731901"/>
            <a:ext cx="7068383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volume representa a quantidade total de transações processadas, incluindo cancelamentos.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25051" y="5562005"/>
            <a:ext cx="638651" cy="1284089"/>
          </a:xfrm>
          <a:prstGeom prst="roundRect">
            <a:avLst>
              <a:gd name="adj" fmla="val 36000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6054328"/>
            <a:ext cx="239435" cy="2993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23365" y="5721668"/>
            <a:ext cx="2100739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Pedidos Entregues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923365" y="6079927"/>
            <a:ext cx="706838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43,36 Mil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923365" y="6431042"/>
            <a:ext cx="706838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Taxa de Finalização de </a:t>
            </a: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96,4%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demonstrando alta eficiência na conclusão de pedidos.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125051" y="7025640"/>
            <a:ext cx="7866698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Embora o crescimento do faturamento seja excepcional (12471%), é fundamental revalidar a base de comparação do ano anterior (R$ 4M) para garantir a precisão deste percentual, que sugere um período de forte crescimento de uma base muito pequena.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095" y="260628"/>
            <a:ext cx="499455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Análise de Cancelamentos e Pedidos em Rota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79095" y="761881"/>
            <a:ext cx="13872210" cy="151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saúde operacional também é medida pela taxa de cancelamentos e pelo volume de pedidos em andamento.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79095" y="1114782"/>
            <a:ext cx="302883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Gerenciamento de Cancelamentos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206234" y="2086928"/>
            <a:ext cx="1165860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669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61" y="1494473"/>
            <a:ext cx="1421844" cy="14218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50964" y="3034784"/>
            <a:ext cx="167663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Quantidade de Cancelamentos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9095" y="3285530"/>
            <a:ext cx="6820495" cy="151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 absoluto que requer análise detalhada das causas raízes (logística, estoque, fraude).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6234" y="4242792"/>
            <a:ext cx="1165860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1.49%</a:t>
            </a:r>
            <a:endParaRPr lang="en-US" sz="1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361" y="3650337"/>
            <a:ext cx="1421844" cy="14218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63848" y="5190649"/>
            <a:ext cx="125099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Taxa de Cancelamento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79096" y="5441394"/>
            <a:ext cx="7059334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taxa relativamente baixa, mas que deve ser monitorada de perto para manter a satisfação do cliente.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9417" y="5664636"/>
            <a:ext cx="7436034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taxa de cancelamento de </a:t>
            </a:r>
            <a:r>
              <a:rPr lang="en-US" sz="11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1,49%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aceitável, mas há oportunidades de melhoria através da otimização do processo de checkout e da precisão da informação de estoque.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38430" y="1114782"/>
            <a:ext cx="229231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Status da Rota de Entrega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0265569" y="2086928"/>
            <a:ext cx="1165860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530</a:t>
            </a:r>
            <a:endParaRPr lang="en-US" sz="18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7696" y="1494473"/>
            <a:ext cx="1421844" cy="14218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74354" y="3034784"/>
            <a:ext cx="154852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Pedidos em Rota de Entrega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438430" y="3285530"/>
            <a:ext cx="6820495" cy="151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atual de pedidos ativos em trânsito para o cliente final.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265569" y="4242792"/>
            <a:ext cx="1165860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1.2%</a:t>
            </a:r>
            <a:endParaRPr lang="en-US" sz="18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7696" y="3650337"/>
            <a:ext cx="1421844" cy="14218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59722" y="5190649"/>
            <a:ext cx="137791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Taxa de Pedidos em Rota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320492" y="5479374"/>
            <a:ext cx="6820495" cy="151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5" algn="ctr">
              <a:lnSpc>
                <a:spcPts val="1150"/>
              </a:lnSpc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 1,2% do total de pedidos, indicando um </a:t>
            </a:r>
            <a:r>
              <a:rPr lang="en-US" sz="1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lvl="5" algn="ctr">
              <a:lnSpc>
                <a:spcPts val="1150"/>
              </a:lnSpc>
            </a:pPr>
            <a:r>
              <a:rPr lang="en-US" sz="1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logístico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eficiente com pouca acumulação de pedidos.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012" y="330637"/>
            <a:ext cx="6322576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Distribuição Geográfica e Pedidos por Estado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330887" y="910858"/>
            <a:ext cx="13668375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Compreender a distribuição geográfica dos clientes é essencial para otimizar a logística e planejar a expansão do mercado. O relatório parcial indica a presença de clientes em diversos estados brasileiros.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104" y="1031880"/>
            <a:ext cx="9088968" cy="4749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53120" y="3418259"/>
            <a:ext cx="5300936" cy="40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Concentração de Clientes por Estado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1012" y="5694267"/>
            <a:ext cx="13668375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lista de estados (AC, AL, AM, AP, BA, CE, DF, ES, GO, MA, MG, MS, MT, PA, PB, PE, PI, PR, RJ) mostra uma cobertura nacional abrangente, 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forte presença nas regiões Norte, Nordeste, Centro-Oeste, Sudeste e Sul.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1009" y="6143302"/>
            <a:ext cx="13668375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presença em estados chave como MG, RJ e PR indica sucesso em mercados de grande volume.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1012" y="6385347"/>
            <a:ext cx="13668375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capilaridade, alcançando estados como AC e AP, sugere uma estratégia logística eficaz para cobrir o território nacional.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1012" y="6620671"/>
            <a:ext cx="13668375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 Passo: Analisar o </a:t>
            </a:r>
            <a:r>
              <a:rPr lang="en-US" sz="1100" dirty="0">
                <a:solidFill>
                  <a:srgbClr val="384653"/>
                </a:solidFill>
                <a:highlight>
                  <a:srgbClr val="609D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de pedidos e o LTV médio por estado</a:t>
            </a: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priorizar investimentos em centros de distribuição regional.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31877"/>
            <a:ext cx="11398329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Análise Temporal: Faturamento por Mês e Categoria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734503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entender a sazonalidade e a contribuição de diferentes linhas de produtos (categorias) para a receita, é crucial analisar a performance mês a mês.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58309" y="2554248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imagem de fundo deve representar um gráfico de faturamento por mês.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58309" y="3260288"/>
            <a:ext cx="3991094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Foco na Sazonalidade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58309" y="3948708"/>
            <a:ext cx="632567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Faturamento por Mês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o indicador principal de picos e vales sazonais. Esta visão nos permitirá alinhar as estratégias de marketing e estoque para capitalizar em períodos de alta demanda e mitigar riscos em períodos de baixa.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309" y="5332333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Esperamos ver um crescimento constante de Janeiro a Outubro, com potenciais picos em meses de datas comemorativas ou lançamentos de produtos.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54039" y="3260288"/>
            <a:ext cx="4928592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Mix de Produtos e Categoria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554039" y="3948708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de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Faturamento por Categoria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revela quais segmentos de produtos estão impulsionando o crescimento de 12471% no faturamento total.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54039" y="5029081"/>
            <a:ext cx="63256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Quais categorias representam os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6%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receita total (conforme visual do dashboard original)?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54039" y="5701903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necessário aprofundar a análise para determinar se o crescimento está concentrado em poucas categorias ou é distribuído de forma saudável.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8309" y="6891218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Recomendação: Implementar um relatório dinâmico que permita a visualização de faturamento mês a mês por categoria para identificar tendências emergentes e alocar recursos de desenvolvimento de produto de forma mais eficaz.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136" y="621625"/>
            <a:ext cx="4632841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Ações Corretivas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04136" y="1552694"/>
            <a:ext cx="13222129" cy="56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crescimento de 56% na Receita e 71,53% nos Pedidos é motivo de celebração, mas os dados também apontam áreas críticas que exigem atenção imediata para garantir a qualidade do serviço e a precisão dos dados.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4136" y="2578060"/>
            <a:ext cx="6523077" cy="2160865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36" y="2555200"/>
            <a:ext cx="6523077" cy="91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594" y="2314099"/>
            <a:ext cx="528042" cy="52804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947" y="2446139"/>
            <a:ext cx="211217" cy="2639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2970" y="3018115"/>
            <a:ext cx="3134201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Auditoria e Correção de Filtros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902970" y="3413284"/>
            <a:ext cx="6125408" cy="112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mensagem "Algo está errado com um ou mais filtros" associada aos indicadores de Clientes Ativos e Clientes Acima do Ticket Médio indica inconsistência de dados.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 Imediata: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Corrigir os filtros para revalidar os percentuais de crescimento.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7403187" y="2578060"/>
            <a:ext cx="6523077" cy="2160865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187" y="2555200"/>
            <a:ext cx="6523077" cy="9144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645" y="2314099"/>
            <a:ext cx="528042" cy="52804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998" y="2446139"/>
            <a:ext cx="211217" cy="26396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602022" y="3018115"/>
            <a:ext cx="2606516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Melhoria Contínua do OTD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7602022" y="3413284"/>
            <a:ext cx="6125408" cy="112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Reverter a queda de 4% no OTD é crucial para a satisfação do cliente.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 Estratégica: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Investir em capacidade logística, otimização de rotas e integração com parceiros de transporte para alcançar a meta de OTD ≥ 0,96.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704136" y="5178862"/>
            <a:ext cx="6523077" cy="1879163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36" y="5156002"/>
            <a:ext cx="6523077" cy="9144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594" y="4914900"/>
            <a:ext cx="528042" cy="528042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9947" y="5046940"/>
            <a:ext cx="211217" cy="26396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02970" y="5618917"/>
            <a:ext cx="4200763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Aprofundamento em LTV e Segmentação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902970" y="6014085"/>
            <a:ext cx="6125408" cy="845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alta concentração de LTV nos top clientes (</a:t>
            </a:r>
            <a:r>
              <a:rPr lang="en-US" sz="1350" dirty="0">
                <a:solidFill>
                  <a:srgbClr val="60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~R$ 10 M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exige um programa VIP e retenção.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 de CRM: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Desenvolver campanhas de fidelidade e ofertas personalizadas para o Top 1% de clientes.</a:t>
            </a:r>
            <a:endParaRPr lang="en-US" sz="1350" dirty="0"/>
          </a:p>
        </p:txBody>
      </p:sp>
      <p:sp>
        <p:nvSpPr>
          <p:cNvPr id="22" name="Shape 11"/>
          <p:cNvSpPr/>
          <p:nvPr/>
        </p:nvSpPr>
        <p:spPr>
          <a:xfrm>
            <a:off x="7403187" y="5178862"/>
            <a:ext cx="6523077" cy="1879163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187" y="5156002"/>
            <a:ext cx="6523077" cy="9144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645" y="4914900"/>
            <a:ext cx="528042" cy="528042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8998" y="5046940"/>
            <a:ext cx="211217" cy="26396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602022" y="5618917"/>
            <a:ext cx="283999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Foco em Análise Categórica</a:t>
            </a:r>
            <a:endParaRPr lang="en-US" sz="1800" dirty="0"/>
          </a:p>
        </p:txBody>
      </p:sp>
      <p:sp>
        <p:nvSpPr>
          <p:cNvPr id="27" name="Text 13"/>
          <p:cNvSpPr/>
          <p:nvPr/>
        </p:nvSpPr>
        <p:spPr>
          <a:xfrm>
            <a:off x="7602022" y="6014085"/>
            <a:ext cx="6125408" cy="845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Realizar uma análise detalhada do faturamento por categoria para entender os drivers de crescimento.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 de Produto: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Alocar capital para as categorias de maior potencial de margem e crescimento.</a:t>
            </a:r>
            <a:endParaRPr lang="en-US" sz="1350" dirty="0"/>
          </a:p>
        </p:txBody>
      </p:sp>
      <p:sp>
        <p:nvSpPr>
          <p:cNvPr id="28" name="Text 14"/>
          <p:cNvSpPr/>
          <p:nvPr/>
        </p:nvSpPr>
        <p:spPr>
          <a:xfrm>
            <a:off x="704136" y="7256026"/>
            <a:ext cx="1322212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1803</Words>
  <Application>Microsoft Office PowerPoint</Application>
  <PresentationFormat>Personalizar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Barlow Bold</vt:lpstr>
      <vt:lpstr>Montserrat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Henrique Carvalho Cardoso</cp:lastModifiedBy>
  <cp:revision>2</cp:revision>
  <dcterms:created xsi:type="dcterms:W3CDTF">2025-10-15T23:20:56Z</dcterms:created>
  <dcterms:modified xsi:type="dcterms:W3CDTF">2025-10-15T23:28:21Z</dcterms:modified>
</cp:coreProperties>
</file>