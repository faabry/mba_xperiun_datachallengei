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7221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Análise de Performance e Crescimento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110026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Uma visão detalhada dos principais indicadores de desempenho (KPIs) e do crescimento da receita e da base de clientes no período de 01/01/2018 a 31/10/2018, em comparação com o ano anterior (LY).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285887"/>
            <a:ext cx="7556421" cy="4371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3684"/>
            <a:ext cx="1240297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KPIs Financeiros Chave: Receita e Pedidos Aprovados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69776"/>
            <a:ext cx="6397347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R$ 353,7 M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2752011" y="38727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Receita Aprovada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301966"/>
            <a:ext cx="639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Crescimento de 56% em relação ao ano anterior (R$ 226,4 M).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439144" y="2969776"/>
            <a:ext cx="6397466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53,59 Mil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9397365" y="38727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Pedidos Aprovados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439144" y="4301966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Aumento significativo de 71,53% em relação aos 31 Mil pedidos do ano anterior.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33888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533888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605825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crescimento robusto na Receita Aprovada e nos Pedidos Aprovados demonstra uma forte expansão do negócio e aceitação do mercado.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63190"/>
            <a:ext cx="75016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Métricas de Operação e Clientes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680103"/>
            <a:ext cx="6422231" cy="1886188"/>
          </a:xfrm>
          <a:prstGeom prst="roundRect">
            <a:avLst>
              <a:gd name="adj" fmla="val 5817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680103"/>
            <a:ext cx="91440" cy="1886188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3901321"/>
            <a:ext cx="334041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OTD (On-Time Delivery)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83588" y="4392454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OTD atual é 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5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0,93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representando uma pequena queda de 4% em relação ao OTD do ano anterior (0,96). A pontualidade na entrega é uma área de foco contínuo.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680103"/>
            <a:ext cx="6422231" cy="1886188"/>
          </a:xfrm>
          <a:prstGeom prst="roundRect">
            <a:avLst>
              <a:gd name="adj" fmla="val 5817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3680103"/>
            <a:ext cx="91440" cy="1886188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390132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Base de Clientes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04177" y="4392454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base de clientes cresceu para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24 Mil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um aumento de 81% em comparação com os 13 Mil clientes do ano anterior (período 01/01/2018 a 31/10/2018).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4488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Visão Geral do Faturamento e Pedidos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152299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faturamento total atingiu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R$ 481 Milhões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com um crescimento notável de 12471% em relação ao ano anterior (R$ 4 Milhões). O total de pedidos realizados foi de 44,97 Mil.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4328160"/>
            <a:ext cx="7556421" cy="2286953"/>
          </a:xfrm>
          <a:prstGeom prst="roundRect">
            <a:avLst>
              <a:gd name="adj" fmla="val 7811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4328160"/>
            <a:ext cx="3778210" cy="1143476"/>
          </a:xfrm>
          <a:prstGeom prst="roundRect">
            <a:avLst>
              <a:gd name="adj" fmla="val 15621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6478548" y="45265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Total de Pedidos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478548" y="4955738"/>
            <a:ext cx="33814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44,97 Mil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0058400" y="4328160"/>
            <a:ext cx="3778210" cy="1143476"/>
          </a:xfrm>
          <a:prstGeom prst="rect">
            <a:avLst/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0" y="4328160"/>
            <a:ext cx="22860" cy="1143476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</p:sp>
      <p:sp>
        <p:nvSpPr>
          <p:cNvPr id="11" name="Text 8"/>
          <p:cNvSpPr/>
          <p:nvPr/>
        </p:nvSpPr>
        <p:spPr>
          <a:xfrm>
            <a:off x="10256758" y="452651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Qtd. Cancelamentos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256758" y="4955738"/>
            <a:ext cx="33814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669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80190" y="5471636"/>
            <a:ext cx="7556421" cy="1143476"/>
          </a:xfrm>
          <a:prstGeom prst="rect">
            <a:avLst/>
          </a:prstGeom>
          <a:solidFill>
            <a:srgbClr val="CEE6FD"/>
          </a:solidFill>
          <a:ln/>
        </p:spPr>
      </p:sp>
      <p:sp>
        <p:nvSpPr>
          <p:cNvPr id="14" name="Shape 11"/>
          <p:cNvSpPr/>
          <p:nvPr/>
        </p:nvSpPr>
        <p:spPr>
          <a:xfrm>
            <a:off x="6280190" y="5471636"/>
            <a:ext cx="7556421" cy="22860"/>
          </a:xfrm>
          <a:prstGeom prst="roundRect">
            <a:avLst>
              <a:gd name="adj" fmla="val 781396"/>
            </a:avLst>
          </a:prstGeom>
          <a:solidFill>
            <a:srgbClr val="B4CCE3"/>
          </a:solidFill>
          <a:ln/>
        </p:spPr>
      </p:sp>
      <p:sp>
        <p:nvSpPr>
          <p:cNvPr id="15" name="Text 12"/>
          <p:cNvSpPr/>
          <p:nvPr/>
        </p:nvSpPr>
        <p:spPr>
          <a:xfrm>
            <a:off x="6478548" y="5669994"/>
            <a:ext cx="26527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Taxa de Cancelamento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478548" y="6099215"/>
            <a:ext cx="715970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1,49%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2689" y="606385"/>
            <a:ext cx="7710964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Eficiência Operacional: Entregas e Finalizações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62689" y="1256943"/>
            <a:ext cx="8018621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eficiência na conclusão dos pedidos é alta, com uma taxa de finalização de 96,4%.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57945" y="2554843"/>
            <a:ext cx="1730573" cy="351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96,4%</a:t>
            </a:r>
            <a:endParaRPr lang="en-US" sz="2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41" y="1675448"/>
            <a:ext cx="2110502" cy="21105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4015" y="3961686"/>
            <a:ext cx="1758672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Taxa de Finalizações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62689" y="4265890"/>
            <a:ext cx="3921323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Pedidos entregues com sucesso: 43,36 Mil.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755243" y="2554843"/>
            <a:ext cx="1730573" cy="351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1,49%</a:t>
            </a:r>
            <a:endParaRPr lang="en-US" sz="2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338" y="1675448"/>
            <a:ext cx="2110502" cy="21105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79996" y="3961686"/>
            <a:ext cx="1881068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Taxa de Cancelamento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59868" y="4265890"/>
            <a:ext cx="3921443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Apenas 669 cancelamentos no período.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706535" y="5686901"/>
            <a:ext cx="1730573" cy="351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1,2%</a:t>
            </a:r>
            <a:endParaRPr lang="en-US" sz="2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630" y="4807506"/>
            <a:ext cx="2110502" cy="21105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92604" y="7093744"/>
            <a:ext cx="1758672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Pedidos em Rota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2611279" y="7397948"/>
            <a:ext cx="3921323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530 pedidos atualmente em processo de entrega.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8960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Análise de Faturamento por Mês e Categoria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12741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distribuição do faturamento ao longo do tempo e por categoria é crucial para entender a sazonalidade e o desempenho do portfólio de produtos.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3985736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gráfico de faturamento por mês e categoria (não detalhado) sugere picos de vendas em determinados períodos, indicando oportunidades para otimizar campanhas e estoque.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0190" y="5161598"/>
            <a:ext cx="7556421" cy="1478280"/>
          </a:xfrm>
          <a:prstGeom prst="roundRect">
            <a:avLst>
              <a:gd name="adj" fmla="val 12083"/>
            </a:avLst>
          </a:prstGeom>
          <a:solidFill>
            <a:srgbClr val="B5DA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48" y="5456873"/>
            <a:ext cx="248007" cy="1983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4913" y="5409486"/>
            <a:ext cx="671333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Observação: A análise detalhada por categoria pode revelar quais produtos estão impulsionando o crescimento da receita de R$ 481 Milhões.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7769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Crescimento Exponencial da Base de Clientes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735580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número de clientes e, especialmente, de clientes acima do ticket médio, demonstra um crescimento extraordinário, embora as taxas de crescimento pareçam atipicamente altas.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3911441"/>
            <a:ext cx="7556421" cy="1461016"/>
          </a:xfrm>
          <a:prstGeom prst="roundRect">
            <a:avLst>
              <a:gd name="adj" fmla="val 32603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6478548" y="41097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Clientes Totais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478548" y="4539020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19 Mil clientes, com um crescimento de 16134,19% vs. Ano Anterior (117 clientes).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280190" y="5570815"/>
            <a:ext cx="7556421" cy="1461016"/>
          </a:xfrm>
          <a:prstGeom prst="roundRect">
            <a:avLst>
              <a:gd name="adj" fmla="val 32603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6478548" y="5769173"/>
            <a:ext cx="36643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Clientes Acima do Ticket Médio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478548" y="6198394"/>
            <a:ext cx="71597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11 Mil clientes, com um crescimento de 11426,04% vs. Ano Anterior (96 clientes).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13930"/>
            <a:ext cx="753237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Valor Histórico por Cliente (LTV)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83166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LTV (Lifetime Value) histórico por cliente, referente ao período de 2017, é de R$ 17,71 Mil.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3689985"/>
            <a:ext cx="7556421" cy="1767245"/>
          </a:xfrm>
          <a:prstGeom prst="roundRect">
            <a:avLst>
              <a:gd name="adj" fmla="val 10108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87" y="3593783"/>
            <a:ext cx="238125" cy="23812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288" y="5315307"/>
            <a:ext cx="238125" cy="2381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14306" y="401050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LTV Médio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1114306" y="4501634"/>
            <a:ext cx="69153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valor médio histórico que um cliente gera para a empresa é 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R$ 17,71 Mil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793790" y="568047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tabela a seguir detalha os clientes com maior LTV, destacando a importância dos clientes de alto valor para a receita total.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224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 Clientes por LTV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5915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Os clientes com maior LTV representam uma parte significativa do valor histórico total. O cliente com o maior LTV contribuiu com mais de R$ 3,6 Milhões.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617476"/>
            <a:ext cx="13042821" cy="2869763"/>
          </a:xfrm>
          <a:prstGeom prst="roundRect">
            <a:avLst>
              <a:gd name="adj" fmla="val 62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62509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768" y="3751778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Cliente - 6a9729c6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17368" y="3751778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3648924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4196001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9768" y="4322683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Cliente - 65bf2a24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17368" y="4322683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2234660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476690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9768" y="4893588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Cliente - 05f71cae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17368" y="4893588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1838475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533781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99768" y="5464493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Cliente - 8e8d59f2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17368" y="5464493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939345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590871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768" y="6035397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Cliente - e268e8a1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17368" y="6035397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795620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33487"/>
            <a:ext cx="690431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Conclusão e Próximos Passos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151221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período analisado demonstra um crescimento excepcional em receita e base de clientes, com forte desempenho em pedidos aprovados. No entanto, a pequena queda no OTD e a necessidade de validar as taxas de crescimento sugerem áreas para otimização.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604" y="3613547"/>
            <a:ext cx="297656" cy="3720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25032" y="36446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Foco na Receita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6925032" y="4073843"/>
            <a:ext cx="69115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Manter o impulso de crescimento da Receita Aprovada (R$ 353,7 M).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604" y="4757142"/>
            <a:ext cx="297656" cy="3720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25032" y="4788218"/>
            <a:ext cx="28038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Otimização Operacional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6925032" y="5217438"/>
            <a:ext cx="69115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Investigar a queda de 4% no OTD para garantir a satisfação do cliente.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604" y="5900738"/>
            <a:ext cx="297656" cy="3720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25032" y="59318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Análise de LTV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6925032" y="6361033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Desenvolver estratégias para aumentar o LTV médio (R$ 17,71 Mil) e reter clientes de alto valor.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2025-10-15T23:00:28Z</dcterms:created>
  <dcterms:modified xsi:type="dcterms:W3CDTF">2025-10-15T23:00:28Z</dcterms:modified>
</cp:coreProperties>
</file>